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anrope SemiBold"/>
      <p:regular r:id="rId17"/>
      <p:bold r:id="rId18"/>
    </p:embeddedFont>
    <p:embeddedFont>
      <p:font typeface="Manrope ExtraBold"/>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ManropeSemiBold-regular.fntdata"/><Relationship Id="rId18" Type="http://schemas.openxmlformats.org/officeDocument/2006/relationships/font" Target="fonts/ManropeSemiBold-bold.fntdata"/><Relationship Id="rId19" Type="http://schemas.openxmlformats.org/officeDocument/2006/relationships/font" Target="fonts/Manrope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5dd6731f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5dd6731f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5dd6731f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5dd6731f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5dd6731f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5dd6731f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5dd6731f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5dd6731f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5dd6731f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5dd6731f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5dd6731f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5dd6731f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5dd6731f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5dd6731f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5dd6731f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5dd6731f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5dd6731f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5dd6731f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5dd6731f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5dd6731f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background redrob.png"/>
          <p:cNvPicPr preferRelativeResize="0"/>
          <p:nvPr/>
        </p:nvPicPr>
        <p:blipFill>
          <a:blip r:embed="rId3">
            <a:alphaModFix/>
          </a:blip>
          <a:stretch>
            <a:fillRect/>
          </a:stretch>
        </p:blipFill>
        <p:spPr>
          <a:xfrm>
            <a:off x="0" y="0"/>
            <a:ext cx="9144003" cy="5143490"/>
          </a:xfrm>
          <a:prstGeom prst="rect">
            <a:avLst/>
          </a:prstGeom>
          <a:noFill/>
          <a:ln>
            <a:noFill/>
          </a:ln>
        </p:spPr>
      </p:pic>
      <p:sp>
        <p:nvSpPr>
          <p:cNvPr id="55" name="Google Shape;55;p13"/>
          <p:cNvSpPr txBox="1"/>
          <p:nvPr/>
        </p:nvSpPr>
        <p:spPr>
          <a:xfrm>
            <a:off x="311700" y="3065023"/>
            <a:ext cx="8520600" cy="4437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sz="1400" b="1">
                <a:solidFill>
                  <a:srgbClr val="2D3748"/>
                </a:solidFill>
                <a:latin typeface="Manrope SemiBold"/>
              </a:rPr>
              <a:t>Team Name :  NoTone</a:t>
            </a:r>
            <a:endParaRPr>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11705" y="3916185"/>
            <a:ext cx="8520600" cy="408600"/>
          </a:xfrm>
          <a:prstGeom prst="rect">
            <a:avLst/>
          </a:prstGeom>
          <a:noFill/>
          <a:ln>
            <a:noFill/>
          </a:ln>
        </p:spPr>
        <p:txBody>
          <a:bodyPr anchorCtr="0" anchor="t" bIns="91425" lIns="91425" spcFirstLastPara="1" rIns="91425" wrap="square" tIns="91425">
            <a:normAutofit/>
          </a:bodyPr>
          <a:lstStyle/>
          <a:p>
            <a:pPr indent="0" lvl="0" marL="0" rtl="0" algn="l">
              <a:lnSpc>
                <a:spcPct val="70000"/>
              </a:lnSpc>
              <a:spcBef>
                <a:spcPts val="0"/>
              </a:spcBef>
              <a:spcAft>
                <a:spcPts val="0"/>
              </a:spcAft>
              <a:buNone/>
            </a:pPr>
            <a:r>
              <a:rPr sz="1200" b="1">
                <a:solidFill>
                  <a:srgbClr val="2D3748"/>
                </a:solidFill>
                <a:latin typeface="Manrope SemiBold"/>
              </a:rPr>
              <a:t>Problem Statement :</a:t>
            </a:r>
            <a:endParaRPr>
              <a:solidFill>
                <a:srgbClr val="202729"/>
              </a:solidFill>
              <a:latin typeface="Manrope SemiBold"/>
              <a:ea typeface="Manrope SemiBold"/>
              <a:cs typeface="Manrope SemiBold"/>
              <a:sym typeface="Manrope SemiBold"/>
            </a:endParaRPr>
          </a:p>
          <a:p>
            <a:pPr algn="l">
              <a:spcBef>
                <a:spcPts val="100"/>
              </a:spcBef>
              <a:spcAft>
                <a:spcPts val="100"/>
              </a:spcAft>
            </a:pPr>
            <a:r>
              <a:rPr sz="1000" b="0">
                <a:solidFill>
                  <a:srgbClr val="2D3748"/>
                </a:solidFill>
                <a:latin typeface="Manrope SemiBold"/>
              </a:rPr>
              <a:t>Most ranking systems just count AI keywords. That puts HR Managers with 14 buzzwords above ML Engineers who actually shipped search systems. We built an offline ranker that uses 46 real signals to find who actually fits the role.</a:t>
            </a:r>
          </a:p>
        </p:txBody>
      </p:sp>
      <p:sp>
        <p:nvSpPr>
          <p:cNvPr id="57" name="Google Shape;57;p13"/>
          <p:cNvSpPr txBox="1"/>
          <p:nvPr/>
        </p:nvSpPr>
        <p:spPr>
          <a:xfrm>
            <a:off x="311688" y="3472483"/>
            <a:ext cx="8520600" cy="4437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sz="1400" b="1">
                <a:solidFill>
                  <a:srgbClr val="2D3748"/>
                </a:solidFill>
                <a:latin typeface="Manrope SemiBold"/>
              </a:rPr>
              <a:t>Team Leader Name :  Prince Jain</a:t>
            </a:r>
            <a:endParaRPr>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title="overlay redrob.png"/>
          <p:cNvPicPr preferRelativeResize="0"/>
          <p:nvPr/>
        </p:nvPicPr>
        <p:blipFill rotWithShape="1">
          <a:blip r:embed="rId3">
            <a:alphaModFix/>
          </a:blip>
          <a:srcRect b="0" l="0" r="0" t="0"/>
          <a:stretch/>
        </p:blipFill>
        <p:spPr>
          <a:xfrm>
            <a:off x="0" y="0"/>
            <a:ext cx="9143997" cy="5143490"/>
          </a:xfrm>
          <a:prstGeom prst="rect">
            <a:avLst/>
          </a:prstGeom>
          <a:noFill/>
          <a:ln>
            <a:noFill/>
          </a:ln>
        </p:spPr>
      </p:pic>
      <p:sp>
        <p:nvSpPr>
          <p:cNvPr id="63" name="Google Shape;63;p14"/>
          <p:cNvSpPr txBox="1"/>
          <p:nvPr/>
        </p:nvSpPr>
        <p:spPr>
          <a:xfrm>
            <a:off x="480500" y="812600"/>
            <a:ext cx="24030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Solution Overview</a:t>
            </a:r>
            <a:endParaRPr>
              <a:solidFill>
                <a:srgbClr val="202729"/>
              </a:solidFill>
              <a:latin typeface="Manrope ExtraBold"/>
              <a:ea typeface="Manrope ExtraBold"/>
              <a:cs typeface="Manrope ExtraBold"/>
              <a:sym typeface="Manrope ExtraBold"/>
            </a:endParaRPr>
          </a:p>
        </p:txBody>
      </p:sp>
      <p:sp>
        <p:nvSpPr>
          <p:cNvPr id="64" name="Google Shape;64;p14"/>
          <p:cNvSpPr txBox="1"/>
          <p:nvPr/>
        </p:nvSpPr>
        <p:spPr>
          <a:xfrm>
            <a:off x="375600" y="1278512"/>
            <a:ext cx="8520600" cy="32568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100" b="1">
                <a:solidFill>
                  <a:srgbClr val="5B21B6"/>
                </a:solidFill>
                <a:latin typeface="Manrope SemiBold"/>
              </a:rPr>
              <a:t>What is your proposed solution?</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1000" b="0">
                <a:solidFill>
                  <a:srgbClr val="2D3748"/>
                </a:solidFill>
                <a:latin typeface="Manrope SemiBold"/>
              </a:rPr>
              <a:t>One Python script. Reads 100K candidates, drops fakes, scores the rest against the JD, writes a ranked CSV. 10 seconds on CPU. No GPU, no API calls. Zero external dependencies.</a:t>
            </a:r>
          </a:p>
          <a:p>
            <a:pPr algn="l">
              <a:spcBef>
                <a:spcPts val="600"/>
              </a:spcBef>
              <a:spcAft>
                <a:spcPts val="200"/>
              </a:spcAft>
            </a:pPr>
            <a:r>
              <a:rPr sz="1100" b="1">
                <a:solidFill>
                  <a:srgbClr val="5B21B6"/>
                </a:solidFill>
                <a:latin typeface="Manrope SemiBold"/>
              </a:rPr>
              <a:t>What differentiates your approach?</a:t>
            </a:r>
          </a:p>
          <a:p>
            <a:pPr algn="l">
              <a:spcBef>
                <a:spcPts val="100"/>
              </a:spcBef>
              <a:spcAft>
                <a:spcPts val="100"/>
              </a:spcAft>
            </a:pPr>
            <a:r>
              <a:rPr sz="1000" b="0">
                <a:solidFill>
                  <a:srgbClr val="2D3748"/>
                </a:solidFill>
                <a:latin typeface="Manrope SemiBold"/>
              </a:rPr>
              <a:t>• The dataset has over 4,000 keyword stuffers (HR Managers with 14 AI skills, Graphic Designers with 14). We catch all of them.</a:t>
            </a:r>
          </a:p>
          <a:p>
            <a:pPr algn="l">
              <a:spcBef>
                <a:spcPts val="100"/>
              </a:spcBef>
              <a:spcAft>
                <a:spcPts val="100"/>
              </a:spcAft>
            </a:pPr>
            <a:r>
              <a:rPr sz="1000" b="0">
                <a:solidFill>
                  <a:srgbClr val="2D3748"/>
                </a:solidFill>
                <a:latin typeface="Manrope SemiBold"/>
              </a:rPr>
              <a:t>• We trust platform test scores over self-reported skills. 95 of our top 100 have verified Redrob assessments.</a:t>
            </a:r>
          </a:p>
          <a:p>
            <a:pPr algn="l">
              <a:spcBef>
                <a:spcPts val="100"/>
              </a:spcBef>
              <a:spcAft>
                <a:spcPts val="100"/>
              </a:spcAft>
            </a:pPr>
            <a:r>
              <a:rPr sz="1000" b="0">
                <a:solidFill>
                  <a:srgbClr val="2D3748"/>
                </a:solidFill>
                <a:latin typeface="Manrope SemiBold"/>
              </a:rPr>
              <a:t>• Reasoning flags real gaps. "At 16.2 years, well above the 5-9 band the role targets." Not generic praise.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overlay redrob.png"/>
          <p:cNvPicPr preferRelativeResize="0"/>
          <p:nvPr/>
        </p:nvPicPr>
        <p:blipFill rotWithShape="1">
          <a:blip r:embed="rId3">
            <a:alphaModFix/>
          </a:blip>
          <a:srcRect b="0" l="0" r="0" t="0"/>
          <a:stretch/>
        </p:blipFill>
        <p:spPr>
          <a:xfrm>
            <a:off x="-12" y="0"/>
            <a:ext cx="9144018" cy="5143501"/>
          </a:xfrm>
          <a:prstGeom prst="rect">
            <a:avLst/>
          </a:prstGeom>
          <a:noFill/>
          <a:ln>
            <a:noFill/>
          </a:ln>
        </p:spPr>
      </p:pic>
      <p:sp>
        <p:nvSpPr>
          <p:cNvPr id="70" name="Google Shape;70;p15"/>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rgbClr val="000000"/>
              </a:buClr>
              <a:buSzPts val="935"/>
              <a:buFont typeface="Arial"/>
              <a:buNone/>
            </a:pPr>
            <a:r>
              <a:rPr lang="en-GB">
                <a:solidFill>
                  <a:srgbClr val="202729"/>
                </a:solidFill>
                <a:latin typeface="Manrope ExtraBold"/>
                <a:ea typeface="Manrope ExtraBold"/>
                <a:cs typeface="Manrope ExtraBold"/>
                <a:sym typeface="Manrope ExtraBold"/>
              </a:rPr>
              <a:t>JD Understanding &amp; Candidate Evaluatio</a:t>
            </a:r>
            <a:r>
              <a:rPr lang="en-GB">
                <a:solidFill>
                  <a:srgbClr val="202729"/>
                </a:solidFill>
                <a:latin typeface="Manrope ExtraBold"/>
                <a:ea typeface="Manrope ExtraBold"/>
                <a:cs typeface="Manrope ExtraBold"/>
                <a:sym typeface="Manrope ExtraBold"/>
              </a:rPr>
              <a:t>n</a:t>
            </a:r>
            <a:endParaRPr>
              <a:solidFill>
                <a:srgbClr val="202729"/>
              </a:solidFill>
              <a:latin typeface="Manrope ExtraBold"/>
              <a:ea typeface="Manrope ExtraBold"/>
              <a:cs typeface="Manrope ExtraBold"/>
              <a:sym typeface="Manrope ExtraBold"/>
            </a:endParaRPr>
          </a:p>
        </p:txBody>
      </p:sp>
      <p:sp>
        <p:nvSpPr>
          <p:cNvPr id="71" name="Google Shape;71;p15"/>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000" b="1">
                <a:solidFill>
                  <a:srgbClr val="5B21B6"/>
                </a:solidFill>
                <a:latin typeface="Manrope SemiBold"/>
              </a:rPr>
              <a:t>What are the key requirements extracted from the JD?</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900" b="0">
                <a:solidFill>
                  <a:srgbClr val="2D3748"/>
                </a:solidFill>
                <a:latin typeface="Manrope SemiBold"/>
              </a:rPr>
              <a:t>• 5-9 years in ML/AI at product companies (not consulting)</a:t>
            </a:r>
          </a:p>
          <a:p>
            <a:pPr algn="l">
              <a:spcBef>
                <a:spcPts val="100"/>
              </a:spcBef>
              <a:spcAft>
                <a:spcPts val="100"/>
              </a:spcAft>
            </a:pPr>
            <a:r>
              <a:rPr sz="900" b="0">
                <a:solidFill>
                  <a:srgbClr val="2D3748"/>
                </a:solidFill>
                <a:latin typeface="Manrope SemiBold"/>
              </a:rPr>
              <a:t>• Hands-on with vector DBs, embeddings, and eval metrics (NDCG, MRR, MAP)</a:t>
            </a:r>
          </a:p>
          <a:p>
            <a:pPr algn="l">
              <a:spcBef>
                <a:spcPts val="100"/>
              </a:spcBef>
              <a:spcAft>
                <a:spcPts val="100"/>
              </a:spcAft>
            </a:pPr>
            <a:r>
              <a:rPr sz="900" b="0">
                <a:solidFill>
                  <a:srgbClr val="2D3748"/>
                </a:solidFill>
                <a:latin typeface="Manrope SemiBold"/>
              </a:rPr>
              <a:t>• Shipped a ranking, search, or recommendation system to real users</a:t>
            </a:r>
          </a:p>
          <a:p>
            <a:pPr algn="l">
              <a:spcBef>
                <a:spcPts val="100"/>
              </a:spcBef>
              <a:spcAft>
                <a:spcPts val="100"/>
              </a:spcAft>
            </a:pPr>
            <a:r>
              <a:rPr sz="900" b="0">
                <a:solidFill>
                  <a:srgbClr val="2D3748"/>
                </a:solidFill>
                <a:latin typeface="Manrope SemiBold"/>
              </a:rPr>
              <a:t>• Prefers builders over researchers. Flags title-chasers.</a:t>
            </a:r>
          </a:p>
          <a:p>
            <a:pPr algn="l">
              <a:spcBef>
                <a:spcPts val="600"/>
              </a:spcBef>
              <a:spcAft>
                <a:spcPts val="200"/>
              </a:spcAft>
            </a:pPr>
            <a:r>
              <a:rPr sz="1000" b="1">
                <a:solidFill>
                  <a:srgbClr val="5B21B6"/>
                </a:solidFill>
                <a:latin typeface="Manrope SemiBold"/>
              </a:rPr>
              <a:t>How does your solution evaluate candidate fit beyond keyword matching?</a:t>
            </a:r>
          </a:p>
          <a:p>
            <a:pPr algn="l">
              <a:spcBef>
                <a:spcPts val="100"/>
              </a:spcBef>
              <a:spcAft>
                <a:spcPts val="100"/>
              </a:spcAft>
            </a:pPr>
            <a:r>
              <a:rPr sz="900" b="0">
                <a:solidFill>
                  <a:srgbClr val="2D3748"/>
                </a:solidFill>
                <a:latin typeface="Manrope SemiBold"/>
              </a:rPr>
              <a:t>• Verified assessment scores beat self-reported skills. A 96.5/100 in Fine-tuning LLMs on the Redrob platform is harder to fake than listing 'LLMs' in skills.</a:t>
            </a:r>
          </a:p>
          <a:p>
            <a:pPr algn="l">
              <a:spcBef>
                <a:spcPts val="100"/>
              </a:spcBef>
              <a:spcAft>
                <a:spcPts val="100"/>
              </a:spcAft>
            </a:pPr>
            <a:r>
              <a:rPr sz="900" b="0">
                <a:solidFill>
                  <a:srgbClr val="2D3748"/>
                </a:solidFill>
                <a:latin typeface="Manrope SemiBold"/>
              </a:rPr>
              <a:t>• We read career descriptions alongside skill lists. Someone who built a recommendation engine at Zomato but never typed 'RAG' still ranks well.</a:t>
            </a:r>
          </a:p>
          <a:p>
            <a:pPr algn="l">
              <a:spcBef>
                <a:spcPts val="100"/>
              </a:spcBef>
              <a:spcAft>
                <a:spcPts val="100"/>
              </a:spcAft>
            </a:pPr>
            <a:r>
              <a:rPr sz="900" b="0">
                <a:solidFill>
                  <a:srgbClr val="2D3748"/>
                </a:solidFill>
                <a:latin typeface="Manrope SemiBold"/>
              </a:rPr>
              <a:t>• Behavioral data matters. Response rate, last login, notice period. A perfect profile inactive for 6 months is useless for hiring.</a:t>
            </a:r>
          </a:p>
          <a:p>
            <a:pPr algn="l">
              <a:spcBef>
                <a:spcPts val="100"/>
              </a:spcBef>
              <a:spcAft>
                <a:spcPts val="100"/>
              </a:spcAft>
            </a:pPr>
            <a:r>
              <a:rPr sz="900" b="0">
                <a:solidFill>
                  <a:srgbClr val="2D3748"/>
                </a:solidFill>
                <a:latin typeface="Manrope SemiBold"/>
              </a:rPr>
              <a:t>• We catch fakes: 42 honeypots, over 4,000 keyword stuffers. Zero of either in our top 100.</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overlay redrob.png"/>
          <p:cNvPicPr preferRelativeResize="0"/>
          <p:nvPr/>
        </p:nvPicPr>
        <p:blipFill rotWithShape="1">
          <a:blip r:embed="rId3">
            <a:alphaModFix/>
          </a:blip>
          <a:srcRect b="0" l="0" r="0" t="0"/>
          <a:stretch/>
        </p:blipFill>
        <p:spPr>
          <a:xfrm>
            <a:off x="0" y="0"/>
            <a:ext cx="9144003" cy="5143490"/>
          </a:xfrm>
          <a:prstGeom prst="rect">
            <a:avLst/>
          </a:prstGeom>
          <a:noFill/>
          <a:ln>
            <a:noFill/>
          </a:ln>
        </p:spPr>
      </p:pic>
      <p:sp>
        <p:nvSpPr>
          <p:cNvPr id="77" name="Google Shape;77;p16"/>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Ranking Methodology</a:t>
            </a:r>
            <a:endParaRPr>
              <a:solidFill>
                <a:srgbClr val="202729"/>
              </a:solidFill>
              <a:latin typeface="Manrope ExtraBold"/>
              <a:ea typeface="Manrope ExtraBold"/>
              <a:cs typeface="Manrope ExtraBold"/>
              <a:sym typeface="Manrope ExtraBold"/>
            </a:endParaRPr>
          </a:p>
        </p:txBody>
      </p:sp>
      <p:sp>
        <p:nvSpPr>
          <p:cNvPr id="78" name="Google Shape;78;p16"/>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000" b="1">
                <a:solidFill>
                  <a:srgbClr val="5B21B6"/>
                </a:solidFill>
                <a:latin typeface="Manrope SemiBold"/>
              </a:rPr>
              <a:t>How does your system retrieve, score, and rank candidates? (46 signals)</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900" b="0">
                <a:solidFill>
                  <a:srgbClr val="2D3748"/>
                </a:solidFill>
                <a:latin typeface="Manrope SemiBold"/>
              </a:rPr>
              <a:t>Five stages: (1) Honeypot filter drops synthetic profiles, (2) Tech fit scores skills + assessments + career keywords, (3) Role fit evaluates YoE, title, company, location, (4) Engagement multipliers adjust for availability, (5) Tiebreakers separate close scores.</a:t>
            </a:r>
          </a:p>
          <a:p>
            <a:pPr algn="l">
              <a:spcBef>
                <a:spcPts val="600"/>
              </a:spcBef>
              <a:spcAft>
                <a:spcPts val="200"/>
              </a:spcAft>
            </a:pPr>
            <a:r>
              <a:rPr sz="1000" b="1">
                <a:solidFill>
                  <a:srgbClr val="5B21B6"/>
                </a:solidFill>
                <a:latin typeface="Manrope SemiBold"/>
              </a:rPr>
              <a:t>What models, algorithms, or heuristics are used?</a:t>
            </a:r>
          </a:p>
          <a:p>
            <a:pPr algn="l">
              <a:spcBef>
                <a:spcPts val="100"/>
              </a:spcBef>
              <a:spcAft>
                <a:spcPts val="100"/>
              </a:spcAft>
            </a:pPr>
            <a:r>
              <a:rPr sz="800" b="0">
                <a:solidFill>
                  <a:srgbClr val="2D3748"/>
                </a:solidFill>
                <a:latin typeface="Manrope SemiBold"/>
              </a:rPr>
              <a:t>Technical Fit (12 signals): Skills scored by proficiency x duration x endorsements. Verified assessment scores from 56 Redrob categories. Recency-weighted career keywords. LangChain-only detection. Multi-category depth bonus.</a:t>
            </a:r>
          </a:p>
          <a:p>
            <a:pPr algn="l">
              <a:spcBef>
                <a:spcPts val="100"/>
              </a:spcBef>
              <a:spcAft>
                <a:spcPts val="100"/>
              </a:spcAft>
            </a:pPr>
            <a:r>
              <a:rPr sz="800" b="0">
                <a:solidFill>
                  <a:srgbClr val="2D3748"/>
                </a:solidFill>
                <a:latin typeface="Manrope SemiBold"/>
              </a:rPr>
              <a:t>Role Fit (10 signals): YoE band scoring (5-9 ideal). Title match. Company tier (product &gt; startup &gt; IT services). Industry, location, HR-tech domain bonus, architecture-only penalty, CV/speech filter.</a:t>
            </a:r>
          </a:p>
          <a:p>
            <a:pPr algn="l">
              <a:spcBef>
                <a:spcPts val="100"/>
              </a:spcBef>
              <a:spcAft>
                <a:spcPts val="100"/>
              </a:spcAft>
            </a:pPr>
            <a:r>
              <a:rPr sz="800" b="0">
                <a:solidFill>
                  <a:srgbClr val="2D3748"/>
                </a:solidFill>
                <a:latin typeface="Manrope SemiBold"/>
              </a:rPr>
              <a:t>Engagement (7) + Tiebreakers (12): Response rate, login recency, notice period, GitHub, interview completion. Education, career trajectory, job stability, endorsements, verified identity.</a:t>
            </a:r>
          </a:p>
          <a:p>
            <a:pPr algn="l">
              <a:spcBef>
                <a:spcPts val="600"/>
              </a:spcBef>
              <a:spcAft>
                <a:spcPts val="200"/>
              </a:spcAft>
            </a:pPr>
            <a:r>
              <a:rPr sz="1000" b="1">
                <a:solidFill>
                  <a:srgbClr val="5B21B6"/>
                </a:solidFill>
                <a:latin typeface="Manrope SemiBold"/>
              </a:rPr>
              <a:t>How are multiple candidate signals combined into a final ranking?</a:t>
            </a:r>
          </a:p>
          <a:p>
            <a:pPr algn="l">
              <a:spcBef>
                <a:spcPts val="100"/>
              </a:spcBef>
              <a:spcAft>
                <a:spcPts val="100"/>
              </a:spcAft>
            </a:pPr>
            <a:r>
              <a:rPr sz="900" b="0">
                <a:solidFill>
                  <a:srgbClr val="2D3748"/>
                </a:solidFill>
                <a:latin typeface="Manrope SemiBold"/>
              </a:rPr>
              <a:t>Weighted sum across 41 scoring signals (tech 45%, role 25%, engagement + tiebreakers 30%), plus 5 binary filter checks (3 honeypot + 2 hard filters) = 46 total. Ties broken by candidate_id.</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overlay redrob.png"/>
          <p:cNvPicPr preferRelativeResize="0"/>
          <p:nvPr/>
        </p:nvPicPr>
        <p:blipFill rotWithShape="1">
          <a:blip r:embed="rId3">
            <a:alphaModFix/>
          </a:blip>
          <a:srcRect b="0" l="0" r="0" t="0"/>
          <a:stretch/>
        </p:blipFill>
        <p:spPr>
          <a:xfrm>
            <a:off x="0" y="0"/>
            <a:ext cx="9144003" cy="5143490"/>
          </a:xfrm>
          <a:prstGeom prst="rect">
            <a:avLst/>
          </a:prstGeom>
          <a:noFill/>
          <a:ln>
            <a:noFill/>
          </a:ln>
        </p:spPr>
      </p:pic>
      <p:sp>
        <p:nvSpPr>
          <p:cNvPr id="84" name="Google Shape;84;p17"/>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Explainability &amp; Data Validation</a:t>
            </a:r>
            <a:endParaRPr>
              <a:solidFill>
                <a:srgbClr val="202729"/>
              </a:solidFill>
              <a:latin typeface="Manrope ExtraBold"/>
              <a:ea typeface="Manrope ExtraBold"/>
              <a:cs typeface="Manrope ExtraBold"/>
              <a:sym typeface="Manrope ExtraBold"/>
            </a:endParaRPr>
          </a:p>
        </p:txBody>
      </p:sp>
      <p:sp>
        <p:nvSpPr>
          <p:cNvPr id="85" name="Google Shape;85;p17"/>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000" b="1">
                <a:solidFill>
                  <a:srgbClr val="5B21B6"/>
                </a:solidFill>
                <a:latin typeface="Manrope SemiBold"/>
              </a:rPr>
              <a:t>How are ranking decisions explained?</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900" b="0">
                <a:solidFill>
                  <a:srgbClr val="2D3748"/>
                </a:solidFill>
                <a:latin typeface="Manrope SemiBold"/>
              </a:rPr>
              <a:t>Each candidate gets a 1-2 sentence explanation pulled from their profile: name, title, company, YoE, matched skills, whether they shipped a search/recommendation system. Six sentence templates rotate. 78% connect to JD requirements. 39% flag honest concerns.</a:t>
            </a:r>
          </a:p>
          <a:p>
            <a:pPr algn="l">
              <a:spcBef>
                <a:spcPts val="600"/>
              </a:spcBef>
              <a:spcAft>
                <a:spcPts val="200"/>
              </a:spcAft>
            </a:pPr>
            <a:r>
              <a:rPr sz="1000" b="1">
                <a:solidFill>
                  <a:srgbClr val="5B21B6"/>
                </a:solidFill>
                <a:latin typeface="Manrope SemiBold"/>
              </a:rPr>
              <a:t>How do you prevent hallucinations or unsupported justifications?</a:t>
            </a:r>
          </a:p>
          <a:p>
            <a:pPr algn="l">
              <a:spcBef>
                <a:spcPts val="100"/>
              </a:spcBef>
              <a:spcAft>
                <a:spcPts val="100"/>
              </a:spcAft>
            </a:pPr>
            <a:r>
              <a:rPr sz="900" b="0">
                <a:solidFill>
                  <a:srgbClr val="2D3748"/>
                </a:solidFill>
                <a:latin typeface="Manrope SemiBold"/>
              </a:rPr>
              <a:t>Reasoning is assembled programmatically from parsed JSON fields. No language model is called. Every skill, employer, and number in the reasoning exists in the candidate's actual profile data.</a:t>
            </a:r>
          </a:p>
          <a:p>
            <a:pPr algn="l">
              <a:spcBef>
                <a:spcPts val="600"/>
              </a:spcBef>
              <a:spcAft>
                <a:spcPts val="200"/>
              </a:spcAft>
            </a:pPr>
            <a:r>
              <a:rPr sz="1000" b="1">
                <a:solidFill>
                  <a:srgbClr val="5B21B6"/>
                </a:solidFill>
                <a:latin typeface="Manrope SemiBold"/>
              </a:rPr>
              <a:t>How do you handle inconsistent, low-quality, or suspicious profiles?</a:t>
            </a:r>
          </a:p>
          <a:p>
            <a:pPr algn="l">
              <a:spcBef>
                <a:spcPts val="100"/>
              </a:spcBef>
              <a:spcAft>
                <a:spcPts val="100"/>
              </a:spcAft>
            </a:pPr>
            <a:r>
              <a:rPr sz="900" b="0">
                <a:solidFill>
                  <a:srgbClr val="2D3748"/>
                </a:solidFill>
                <a:latin typeface="Manrope SemiBold"/>
              </a:rPr>
              <a:t>Three checks: expert skills with zero usage duration (3+ triggers exclusion), job durations exceeding total stated YoE, and job durations that don't match calendar math between start and end dates. 42 caught, 0 in our top 100.</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8" title="overlay redrob.png"/>
          <p:cNvPicPr preferRelativeResize="0"/>
          <p:nvPr/>
        </p:nvPicPr>
        <p:blipFill rotWithShape="1">
          <a:blip r:embed="rId3">
            <a:alphaModFix/>
          </a:blip>
          <a:srcRect b="0" l="0" r="0" t="0"/>
          <a:stretch/>
        </p:blipFill>
        <p:spPr>
          <a:xfrm>
            <a:off x="0" y="0"/>
            <a:ext cx="9144003" cy="5143490"/>
          </a:xfrm>
          <a:prstGeom prst="rect">
            <a:avLst/>
          </a:prstGeom>
          <a:noFill/>
          <a:ln>
            <a:noFill/>
          </a:ln>
        </p:spPr>
      </p:pic>
      <p:sp>
        <p:nvSpPr>
          <p:cNvPr id="91" name="Google Shape;91;p18"/>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End-to-End Workflow</a:t>
            </a:r>
            <a:endParaRPr>
              <a:solidFill>
                <a:srgbClr val="202729"/>
              </a:solidFill>
              <a:latin typeface="Manrope ExtraBold"/>
              <a:ea typeface="Manrope ExtraBold"/>
              <a:cs typeface="Manrope ExtraBold"/>
              <a:sym typeface="Manrope ExtraBold"/>
            </a:endParaRPr>
          </a:p>
        </p:txBody>
      </p:sp>
      <p:sp>
        <p:nvSpPr>
          <p:cNvPr id="92" name="Google Shape;92;p18"/>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000" b="1">
                <a:solidFill>
                  <a:srgbClr val="5B21B6"/>
                </a:solidFill>
                <a:latin typeface="Manrope SemiBold"/>
              </a:rPr>
              <a:t>Complete workflow from JD input to ranked candidate output:</a:t>
            </a: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900" b="0">
                <a:solidFill>
                  <a:srgbClr val="2D3748"/>
                </a:solidFill>
                <a:latin typeface="Manrope SemiBold"/>
              </a:rPr>
              <a:t>1. Load data: Stream candidates.jsonl line by line (low memory).</a:t>
            </a:r>
          </a:p>
          <a:p>
            <a:pPr algn="l">
              <a:spcBef>
                <a:spcPts val="100"/>
              </a:spcBef>
              <a:spcAft>
                <a:spcPts val="100"/>
              </a:spcAft>
            </a:pPr>
            <a:r>
              <a:rPr sz="900" b="0">
                <a:solidFill>
                  <a:srgbClr val="2D3748"/>
                </a:solidFill>
                <a:latin typeface="Manrope SemiBold"/>
              </a:rPr>
              <a:t>2. Honeypot filter: Drop 42 profiles with timeline or skill contradictions.</a:t>
            </a:r>
          </a:p>
          <a:p>
            <a:pPr algn="l">
              <a:spcBef>
                <a:spcPts val="100"/>
              </a:spcBef>
              <a:spcAft>
                <a:spcPts val="100"/>
              </a:spcAft>
            </a:pPr>
            <a:r>
              <a:rPr sz="900" b="0">
                <a:solidFill>
                  <a:srgbClr val="2D3748"/>
                </a:solidFill>
                <a:latin typeface="Manrope SemiBold"/>
              </a:rPr>
              <a:t>3. Hard filters: Remove non-tech roles, wrong country, CV/speech-only.</a:t>
            </a:r>
          </a:p>
          <a:p>
            <a:pPr algn="l">
              <a:spcBef>
                <a:spcPts val="100"/>
              </a:spcBef>
              <a:spcAft>
                <a:spcPts val="100"/>
              </a:spcAft>
            </a:pPr>
            <a:r>
              <a:rPr sz="900" b="0">
                <a:solidFill>
                  <a:srgbClr val="2D3748"/>
                </a:solidFill>
                <a:latin typeface="Manrope SemiBold"/>
              </a:rPr>
              <a:t>4. Tech fit score: Skills, assessments, career keywords, summary mining.</a:t>
            </a:r>
          </a:p>
          <a:p>
            <a:pPr algn="l">
              <a:spcBef>
                <a:spcPts val="100"/>
              </a:spcBef>
              <a:spcAft>
                <a:spcPts val="100"/>
              </a:spcAft>
            </a:pPr>
            <a:r>
              <a:rPr sz="900" b="0">
                <a:solidFill>
                  <a:srgbClr val="2D3748"/>
                </a:solidFill>
                <a:latin typeface="Manrope SemiBold"/>
              </a:rPr>
              <a:t>5. Role fit score: YoE, title, company, industry, location, HR-tech bonus.</a:t>
            </a:r>
          </a:p>
          <a:p>
            <a:pPr algn="l">
              <a:spcBef>
                <a:spcPts val="100"/>
              </a:spcBef>
              <a:spcAft>
                <a:spcPts val="100"/>
              </a:spcAft>
            </a:pPr>
            <a:r>
              <a:rPr sz="900" b="0">
                <a:solidFill>
                  <a:srgbClr val="2D3748"/>
                </a:solidFill>
                <a:latin typeface="Manrope SemiBold"/>
              </a:rPr>
              <a:t>6. Multipliers: Response rate, recency, notice, GitHub, completion rate.</a:t>
            </a:r>
          </a:p>
          <a:p>
            <a:pPr algn="l">
              <a:spcBef>
                <a:spcPts val="100"/>
              </a:spcBef>
              <a:spcAft>
                <a:spcPts val="100"/>
              </a:spcAft>
            </a:pPr>
            <a:r>
              <a:rPr sz="900" b="0">
                <a:solidFill>
                  <a:srgbClr val="2D3748"/>
                </a:solidFill>
                <a:latin typeface="Manrope SemiBold"/>
              </a:rPr>
              <a:t>7. Tiebreakers: Education, trajectory, stability, endorsements, certs.</a:t>
            </a:r>
          </a:p>
          <a:p>
            <a:pPr algn="l">
              <a:spcBef>
                <a:spcPts val="100"/>
              </a:spcBef>
              <a:spcAft>
                <a:spcPts val="100"/>
              </a:spcAft>
            </a:pPr>
            <a:r>
              <a:rPr sz="900" b="0">
                <a:solidFill>
                  <a:srgbClr val="2D3748"/>
                </a:solidFill>
                <a:latin typeface="Manrope SemiBold"/>
              </a:rPr>
              <a:t>8. Sort + rank: Descending by score. Ties broken by candidate_id.</a:t>
            </a:r>
          </a:p>
          <a:p>
            <a:pPr algn="l">
              <a:spcBef>
                <a:spcPts val="100"/>
              </a:spcBef>
              <a:spcAft>
                <a:spcPts val="100"/>
              </a:spcAft>
            </a:pPr>
            <a:r>
              <a:rPr sz="900" b="0">
                <a:solidFill>
                  <a:srgbClr val="2D3748"/>
                </a:solidFill>
                <a:latin typeface="Manrope SemiBold"/>
              </a:rPr>
              <a:t>9. Reasoning: JD-connected, concern-flagging, 6 template rotation.</a:t>
            </a:r>
          </a:p>
          <a:p>
            <a:pPr algn="l">
              <a:spcBef>
                <a:spcPts val="100"/>
              </a:spcBef>
              <a:spcAft>
                <a:spcPts val="100"/>
              </a:spcAft>
            </a:pPr>
            <a:r>
              <a:rPr sz="900" b="0">
                <a:solidFill>
                  <a:srgbClr val="2D3748"/>
                </a:solidFill>
                <a:latin typeface="Manrope SemiBold"/>
              </a:rPr>
              <a:t>10. Write CSV: Validated output with 100 ranked candidates.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9" title="overlay redrob.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98" name="Google Shape;98;p19"/>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System Architecture</a:t>
            </a:r>
            <a:endParaRPr>
              <a:solidFill>
                <a:srgbClr val="202729"/>
              </a:solidFill>
              <a:latin typeface="Manrope ExtraBold"/>
              <a:ea typeface="Manrope ExtraBold"/>
              <a:cs typeface="Manrope ExtraBold"/>
              <a:sym typeface="Manrope ExtraBold"/>
            </a:endParaRPr>
          </a:p>
        </p:txBody>
      </p:sp>
      <p:sp>
        <p:nvSpPr>
          <p:cNvPr id="99" name="TextBox 98"/>
          <p:cNvSpPr txBox="1"/>
          <p:nvPr/>
        </p:nvSpPr>
        <p:spPr>
          <a:xfrm>
            <a:off x="480500" y="1278496"/>
            <a:ext cx="8120000" cy="3200000"/>
          </a:xfrm>
          <a:prstGeom prst="rect">
            <a:avLst/>
          </a:prstGeom>
          <a:noFill/>
        </p:spPr>
        <p:txBody>
          <a:bodyPr wrap="square">
            <a:spAutoFit/>
          </a:bodyPr>
          <a:lstStyle/>
          <a:p>
            <a:r>
              <a:rPr sz="1000" b="1">
                <a:solidFill>
                  <a:srgbClr val="2D3748"/>
                </a:solidFill>
                <a:latin typeface="Manrope SemiBold"/>
              </a:rPr>
              <a:t>candidates.jsonl (100K profiles, streamed line-by-line)</a:t>
            </a:r>
          </a:p>
          <a:p>
            <a:pPr algn="l">
              <a:spcBef>
                <a:spcPts val="100"/>
              </a:spcBef>
              <a:spcAft>
                <a:spcPts val="100"/>
              </a:spcAft>
            </a:pPr>
            <a:r>
              <a:rPr sz="1000" b="0">
                <a:solidFill>
                  <a:srgbClr val="5B21B6"/>
                </a:solidFill>
                <a:latin typeface="Manrope SemiBold"/>
              </a:rPr>
              <a:t>       ↓</a:t>
            </a:r>
          </a:p>
          <a:p>
            <a:pPr algn="l">
              <a:spcBef>
                <a:spcPts val="100"/>
              </a:spcBef>
              <a:spcAft>
                <a:spcPts val="100"/>
              </a:spcAft>
            </a:pPr>
            <a:r>
              <a:rPr sz="1000" b="1">
                <a:solidFill>
                  <a:srgbClr val="2D3748"/>
                </a:solidFill>
                <a:latin typeface="Manrope SemiBold"/>
              </a:rPr>
              <a:t>Honeypot filter (timeline checks, skill contradictions) → 42 dropped</a:t>
            </a:r>
          </a:p>
          <a:p>
            <a:pPr algn="l">
              <a:spcBef>
                <a:spcPts val="100"/>
              </a:spcBef>
              <a:spcAft>
                <a:spcPts val="100"/>
              </a:spcAft>
            </a:pPr>
            <a:r>
              <a:rPr sz="1000" b="0">
                <a:solidFill>
                  <a:srgbClr val="5B21B6"/>
                </a:solidFill>
                <a:latin typeface="Manrope SemiBold"/>
              </a:rPr>
              <a:t>       ↓</a:t>
            </a:r>
          </a:p>
          <a:p>
            <a:pPr algn="l">
              <a:spcBef>
                <a:spcPts val="100"/>
              </a:spcBef>
              <a:spcAft>
                <a:spcPts val="100"/>
              </a:spcAft>
            </a:pPr>
            <a:r>
              <a:rPr sz="1000" b="1">
                <a:solidFill>
                  <a:srgbClr val="2D3748"/>
                </a:solidFill>
                <a:latin typeface="Manrope SemiBold"/>
              </a:rPr>
              <a:t>Hard filters (non-tech, wrong country, CV/speech) → ~55K filtered</a:t>
            </a:r>
          </a:p>
          <a:p>
            <a:pPr algn="l">
              <a:spcBef>
                <a:spcPts val="100"/>
              </a:spcBef>
              <a:spcAft>
                <a:spcPts val="100"/>
              </a:spcAft>
            </a:pPr>
            <a:r>
              <a:rPr sz="1000" b="0">
                <a:solidFill>
                  <a:srgbClr val="5B21B6"/>
                </a:solidFill>
                <a:latin typeface="Manrope SemiBold"/>
              </a:rPr>
              <a:t>       ↓</a:t>
            </a:r>
          </a:p>
          <a:p>
            <a:pPr algn="l">
              <a:spcBef>
                <a:spcPts val="100"/>
              </a:spcBef>
              <a:spcAft>
                <a:spcPts val="100"/>
              </a:spcAft>
            </a:pPr>
            <a:r>
              <a:rPr sz="1000" b="1">
                <a:solidFill>
                  <a:srgbClr val="2D3748"/>
                </a:solidFill>
                <a:latin typeface="Manrope SemiBold"/>
              </a:rPr>
              <a:t>46-signal scoring (tech fit + role fit + HR-tech + assessments)</a:t>
            </a:r>
          </a:p>
          <a:p>
            <a:pPr algn="l">
              <a:spcBef>
                <a:spcPts val="100"/>
              </a:spcBef>
              <a:spcAft>
                <a:spcPts val="100"/>
              </a:spcAft>
            </a:pPr>
            <a:r>
              <a:rPr sz="1000" b="0">
                <a:solidFill>
                  <a:srgbClr val="5B21B6"/>
                </a:solidFill>
                <a:latin typeface="Manrope SemiBold"/>
              </a:rPr>
              <a:t>       ↓</a:t>
            </a:r>
          </a:p>
          <a:p>
            <a:pPr algn="l">
              <a:spcBef>
                <a:spcPts val="100"/>
              </a:spcBef>
              <a:spcAft>
                <a:spcPts val="100"/>
              </a:spcAft>
            </a:pPr>
            <a:r>
              <a:rPr sz="1000" b="1">
                <a:solidFill>
                  <a:srgbClr val="2D3748"/>
                </a:solidFill>
                <a:latin typeface="Manrope SemiBold"/>
              </a:rPr>
              <a:t>Engagement multipliers (response rate, recency, GitHub, notice)</a:t>
            </a:r>
          </a:p>
          <a:p>
            <a:pPr algn="l">
              <a:spcBef>
                <a:spcPts val="100"/>
              </a:spcBef>
              <a:spcAft>
                <a:spcPts val="100"/>
              </a:spcAft>
            </a:pPr>
            <a:r>
              <a:rPr sz="1000" b="0">
                <a:solidFill>
                  <a:srgbClr val="5B21B6"/>
                </a:solidFill>
                <a:latin typeface="Manrope SemiBold"/>
              </a:rPr>
              <a:t>       ↓</a:t>
            </a:r>
          </a:p>
          <a:p>
            <a:pPr algn="l">
              <a:spcBef>
                <a:spcPts val="100"/>
              </a:spcBef>
              <a:spcAft>
                <a:spcPts val="100"/>
              </a:spcAft>
            </a:pPr>
            <a:r>
              <a:rPr sz="1000" b="1">
                <a:solidFill>
                  <a:srgbClr val="2D3748"/>
                </a:solidFill>
                <a:latin typeface="Manrope SemiBold"/>
              </a:rPr>
              <a:t>Tiebreakers (education, trajectory, stability, endorsements)</a:t>
            </a:r>
          </a:p>
          <a:p>
            <a:pPr algn="l">
              <a:spcBef>
                <a:spcPts val="100"/>
              </a:spcBef>
              <a:spcAft>
                <a:spcPts val="100"/>
              </a:spcAft>
            </a:pPr>
            <a:r>
              <a:rPr sz="1000" b="0">
                <a:solidFill>
                  <a:srgbClr val="5B21B6"/>
                </a:solidFill>
                <a:latin typeface="Manrope SemiBold"/>
              </a:rPr>
              <a:t>       ↓</a:t>
            </a:r>
          </a:p>
          <a:p>
            <a:pPr algn="l">
              <a:spcBef>
                <a:spcPts val="100"/>
              </a:spcBef>
              <a:spcAft>
                <a:spcPts val="100"/>
              </a:spcAft>
            </a:pPr>
            <a:r>
              <a:rPr sz="1000" b="1">
                <a:solidFill>
                  <a:srgbClr val="2D3748"/>
                </a:solidFill>
                <a:latin typeface="Manrope SemiBold"/>
              </a:rPr>
              <a:t>Sort desc, generate reasoning, write prince_jain.csv (top 100)</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0" title="overlay redrob.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4" name="Google Shape;104;p20"/>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Results &amp; Performance</a:t>
            </a:r>
            <a:endParaRPr>
              <a:solidFill>
                <a:srgbClr val="202729"/>
              </a:solidFill>
              <a:latin typeface="Manrope ExtraBold"/>
              <a:ea typeface="Manrope ExtraBold"/>
              <a:cs typeface="Manrope ExtraBold"/>
              <a:sym typeface="Manrope ExtraBold"/>
            </a:endParaRPr>
          </a:p>
        </p:txBody>
      </p:sp>
      <p:sp>
        <p:nvSpPr>
          <p:cNvPr id="105" name="Google Shape;105;p20"/>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000" b="1">
                <a:solidFill>
                  <a:srgbClr val="5B21B6"/>
                </a:solidFill>
                <a:latin typeface="Manrope SemiBold"/>
              </a:rPr>
              <a:t>What results or insights demonstrate ranking quality?</a:t>
            </a:r>
            <a:endParaRPr sz="1365">
              <a:solidFill>
                <a:srgbClr val="202729"/>
              </a:solidFill>
              <a:latin typeface="Manrope SemiBold"/>
              <a:ea typeface="Manrope SemiBold"/>
              <a:cs typeface="Manrope SemiBold"/>
              <a:sym typeface="Manrope SemiBold"/>
            </a:endParaRPr>
          </a:p>
          <a:p>
            <a:pPr indent="-315278" lvl="0" marL="457200" rtl="0" algn="l">
              <a:lnSpc>
                <a:spcPct val="150000"/>
              </a:lnSpc>
              <a:spcBef>
                <a:spcPts val="0"/>
              </a:spcBef>
              <a:spcAft>
                <a:spcPts val="0"/>
              </a:spcAft>
              <a:buClr>
                <a:srgbClr val="7D45E0"/>
              </a:buClr>
              <a:buSzPts val="1365"/>
              <a:buFont typeface="Manrope SemiBold"/>
              <a:buChar char="●"/>
            </a:pP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900" b="0">
                <a:solidFill>
                  <a:srgbClr val="2D3748"/>
                </a:solidFill>
                <a:latin typeface="Manrope SemiBold"/>
              </a:rPr>
              <a:t>• Top 10: 8 of 10 in the 6-8 YoE sweet spot. All shipped search, ranking, or recommendation systems. Companies: Meta, CRED, Genpact AI, Paytm, Netflix, Aganitha, Niramai, Zomato, Sarvam AI.</a:t>
            </a:r>
          </a:p>
          <a:p>
            <a:pPr algn="l">
              <a:spcBef>
                <a:spcPts val="100"/>
              </a:spcBef>
              <a:spcAft>
                <a:spcPts val="100"/>
              </a:spcAft>
            </a:pPr>
            <a:r>
              <a:rPr sz="900" b="0">
                <a:solidFill>
                  <a:srgbClr val="2D3748"/>
                </a:solidFill>
                <a:latin typeface="Manrope SemiBold"/>
              </a:rPr>
              <a:t>• 95 of 100 have verified Redrob assessment scores. Average YoE is 6.4 years. 24 from AI/ML, 13 from Fintech, 9 from Internet companies.</a:t>
            </a:r>
          </a:p>
          <a:p>
            <a:pPr algn="l">
              <a:spcBef>
                <a:spcPts val="100"/>
              </a:spcBef>
              <a:spcAft>
                <a:spcPts val="100"/>
              </a:spcAft>
            </a:pPr>
            <a:r>
              <a:rPr sz="900" b="0">
                <a:solidFill>
                  <a:srgbClr val="2D3748"/>
                </a:solidFill>
                <a:latin typeface="Manrope SemiBold"/>
              </a:rPr>
              <a:t>• Zero honeypots. Zero keyword stuffers (dataset has over 4,000). Zero CV/speech/robotics people without NLP/IR crossover.</a:t>
            </a:r>
          </a:p>
          <a:p>
            <a:pPr algn="l">
              <a:spcBef>
                <a:spcPts val="600"/>
              </a:spcBef>
              <a:spcAft>
                <a:spcPts val="200"/>
              </a:spcAft>
            </a:pPr>
            <a:r>
              <a:rPr sz="1000" b="1">
                <a:solidFill>
                  <a:srgbClr val="5B21B6"/>
                </a:solidFill>
                <a:latin typeface="Manrope SemiBold"/>
              </a:rPr>
              <a:t>How does your solution meet runtime and compute constraints?</a:t>
            </a:r>
          </a:p>
          <a:p>
            <a:pPr algn="l">
              <a:spcBef>
                <a:spcPts val="100"/>
              </a:spcBef>
              <a:spcAft>
                <a:spcPts val="100"/>
              </a:spcAft>
            </a:pPr>
            <a:r>
              <a:rPr sz="900" b="0">
                <a:solidFill>
                  <a:srgbClr val="2D3748"/>
                </a:solidFill>
                <a:latin typeface="Manrope SemiBold"/>
              </a:rPr>
              <a:t>• ~10 seconds end-to-end for 100K candidates. Under 15 MB memory.</a:t>
            </a:r>
          </a:p>
          <a:p>
            <a:pPr algn="l">
              <a:spcBef>
                <a:spcPts val="100"/>
              </a:spcBef>
              <a:spcAft>
                <a:spcPts val="100"/>
              </a:spcAft>
            </a:pPr>
            <a:r>
              <a:rPr sz="900" b="0">
                <a:solidFill>
                  <a:srgbClr val="2D3748"/>
                </a:solidFill>
                <a:latin typeface="Manrope SemiBold"/>
              </a:rPr>
              <a:t>• Fully offline, CPU only, no GPU. Passes validate_submission.py with zero errors.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title="overlay redrob.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1" name="Google Shape;111;p21"/>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Technologies Used</a:t>
            </a:r>
            <a:endParaRPr>
              <a:solidFill>
                <a:srgbClr val="202729"/>
              </a:solidFill>
              <a:latin typeface="Manrope ExtraBold"/>
              <a:ea typeface="Manrope ExtraBold"/>
              <a:cs typeface="Manrope ExtraBold"/>
              <a:sym typeface="Manrope ExtraBold"/>
            </a:endParaRPr>
          </a:p>
        </p:txBody>
      </p:sp>
      <p:sp>
        <p:nvSpPr>
          <p:cNvPr id="112" name="Google Shape;112;p21"/>
          <p:cNvSpPr txBox="1"/>
          <p:nvPr/>
        </p:nvSpPr>
        <p:spPr>
          <a:xfrm>
            <a:off x="375600" y="1278496"/>
            <a:ext cx="8520600" cy="3198900"/>
          </a:xfrm>
          <a:prstGeom prst="rect">
            <a:avLst/>
          </a:prstGeom>
          <a:noFill/>
          <a:ln>
            <a:noFill/>
          </a:ln>
        </p:spPr>
        <p:txBody>
          <a:bodyPr anchorCtr="0" anchor="t" bIns="91425" lIns="91425" spcFirstLastPara="1" rIns="91425" wrap="square" tIns="91425">
            <a:noAutofit/>
          </a:bodyPr>
          <a:lstStyle/>
          <a:p>
            <a:pPr indent="-315278" lvl="0" marL="457200" rtl="0" algn="l">
              <a:lnSpc>
                <a:spcPct val="150000"/>
              </a:lnSpc>
              <a:spcBef>
                <a:spcPts val="0"/>
              </a:spcBef>
              <a:spcAft>
                <a:spcPts val="0"/>
              </a:spcAft>
              <a:buClr>
                <a:srgbClr val="7D45E0"/>
              </a:buClr>
              <a:buSzPts val="1365"/>
              <a:buFont typeface="Manrope SemiBold"/>
              <a:buChar char="●"/>
            </a:pPr>
            <a:r>
              <a:rPr sz="1000" b="1">
                <a:solidFill>
                  <a:srgbClr val="5B21B6"/>
                </a:solidFill>
                <a:latin typeface="Manrope SemiBold"/>
              </a:rPr>
              <a:t>What technologies, frameworks, and tools were used?</a:t>
            </a:r>
            <a:endParaRPr sz="1365">
              <a:solidFill>
                <a:srgbClr val="202729"/>
              </a:solidFill>
              <a:latin typeface="Manrope SemiBold"/>
              <a:ea typeface="Manrope SemiBold"/>
              <a:cs typeface="Manrope SemiBold"/>
              <a:sym typeface="Manrope SemiBold"/>
            </a:endParaRPr>
          </a:p>
          <a:p>
            <a:pPr indent="0" lvl="0" marL="457200" rtl="0" algn="l">
              <a:lnSpc>
                <a:spcPct val="150000"/>
              </a:lnSpc>
              <a:spcBef>
                <a:spcPts val="0"/>
              </a:spcBef>
              <a:spcAft>
                <a:spcPts val="0"/>
              </a:spcAft>
              <a:buNone/>
            </a:pP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900" b="0">
                <a:solidFill>
                  <a:srgbClr val="2D3748"/>
                </a:solidFill>
                <a:latin typeface="Manrope SemiBold"/>
              </a:rPr>
              <a:t>• Python stdlib only (json, csv, datetime, argparse, random, typing). Zero external dependencies. Works on any Python 3.9+ machine.</a:t>
            </a:r>
          </a:p>
          <a:p>
            <a:pPr algn="l">
              <a:spcBef>
                <a:spcPts val="100"/>
              </a:spcBef>
              <a:spcAft>
                <a:spcPts val="100"/>
              </a:spcAft>
            </a:pPr>
            <a:r>
              <a:rPr sz="900" b="0">
                <a:solidFill>
                  <a:srgbClr val="2D3748"/>
                </a:solidFill>
                <a:latin typeface="Manrope SemiBold"/>
              </a:rPr>
              <a:t>• Type-hinted code with module docstring. All functions documented. 23 iterative git commits across 3 development days.</a:t>
            </a:r>
          </a:p>
          <a:p>
            <a:pPr algn="l">
              <a:spcBef>
                <a:spcPts val="100"/>
              </a:spcBef>
              <a:spcAft>
                <a:spcPts val="100"/>
              </a:spcAft>
            </a:pPr>
            <a:r>
              <a:rPr sz="900" b="0">
                <a:solidFill>
                  <a:srgbClr val="2D3748"/>
                </a:solidFill>
                <a:latin typeface="Manrope SemiBold"/>
              </a:rPr>
              <a:t>• ReportLab + pypdf: Only used for this PDF, not part of the ranking pipeline.</a:t>
            </a:r>
          </a:p>
          <a:p>
            <a:pPr algn="l">
              <a:spcBef>
                <a:spcPts val="600"/>
              </a:spcBef>
              <a:spcAft>
                <a:spcPts val="200"/>
              </a:spcAft>
            </a:pPr>
            <a:r>
              <a:rPr sz="1000" b="1">
                <a:solidFill>
                  <a:srgbClr val="5B21B6"/>
                </a:solidFill>
                <a:latin typeface="Manrope SemiBold"/>
              </a:rPr>
              <a:t>Why no ML model or LLM?</a:t>
            </a:r>
          </a:p>
          <a:p>
            <a:pPr algn="l">
              <a:spcBef>
                <a:spcPts val="100"/>
              </a:spcBef>
              <a:spcAft>
                <a:spcPts val="100"/>
              </a:spcAft>
            </a:pPr>
            <a:r>
              <a:rPr sz="900" b="0">
                <a:solidFill>
                  <a:srgbClr val="2D3748"/>
                </a:solidFill>
                <a:latin typeface="Manrope SemiBold"/>
              </a:rPr>
              <a:t>Without labeled training data, a model would be fitting noise. Hand-crafted rules grounded in the JD are more transparent and defensible. Every scoring decision maps to something the JD says.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title="overlay redrob.png"/>
          <p:cNvPicPr preferRelativeResize="0"/>
          <p:nvPr/>
        </p:nvPicPr>
        <p:blipFill rotWithShape="1">
          <a:blip r:embed="rId3">
            <a:alphaModFix/>
          </a:blip>
          <a:srcRect b="0" l="0" r="0" t="0"/>
          <a:stretch/>
        </p:blipFill>
        <p:spPr>
          <a:xfrm>
            <a:off x="0" y="0"/>
            <a:ext cx="9143997" cy="5143490"/>
          </a:xfrm>
          <a:prstGeom prst="rect">
            <a:avLst/>
          </a:prstGeom>
          <a:noFill/>
          <a:ln>
            <a:noFill/>
          </a:ln>
        </p:spPr>
      </p:pic>
      <p:sp>
        <p:nvSpPr>
          <p:cNvPr id="118" name="Google Shape;118;p22"/>
          <p:cNvSpPr txBox="1"/>
          <p:nvPr/>
        </p:nvSpPr>
        <p:spPr>
          <a:xfrm>
            <a:off x="480500" y="812600"/>
            <a:ext cx="8121600" cy="465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935"/>
              <a:buNone/>
            </a:pPr>
            <a:r>
              <a:rPr lang="en-GB">
                <a:solidFill>
                  <a:srgbClr val="202729"/>
                </a:solidFill>
                <a:latin typeface="Manrope ExtraBold"/>
                <a:ea typeface="Manrope ExtraBold"/>
                <a:cs typeface="Manrope ExtraBold"/>
                <a:sym typeface="Manrope ExtraBold"/>
              </a:rPr>
              <a:t>Submission Assets</a:t>
            </a:r>
            <a:endParaRPr>
              <a:solidFill>
                <a:srgbClr val="202729"/>
              </a:solidFill>
              <a:latin typeface="Manrope ExtraBold"/>
              <a:ea typeface="Manrope ExtraBold"/>
              <a:cs typeface="Manrope ExtraBold"/>
              <a:sym typeface="Manrope ExtraBold"/>
            </a:endParaRPr>
          </a:p>
        </p:txBody>
      </p:sp>
      <p:sp>
        <p:nvSpPr>
          <p:cNvPr id="119" name="Google Shape;119;p22"/>
          <p:cNvSpPr txBox="1"/>
          <p:nvPr/>
        </p:nvSpPr>
        <p:spPr>
          <a:xfrm>
            <a:off x="480500" y="1278500"/>
            <a:ext cx="7968600" cy="3198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sz="1100" b="1">
                <a:solidFill>
                  <a:srgbClr val="5B21B6"/>
                </a:solidFill>
                <a:latin typeface="Manrope SemiBold"/>
              </a:rPr>
              <a:t>Submission assets:</a:t>
            </a:r>
            <a:endParaRPr sz="1365">
              <a:solidFill>
                <a:srgbClr val="202729"/>
              </a:solidFill>
              <a:latin typeface="Manrope SemiBold"/>
              <a:ea typeface="Manrope SemiBold"/>
              <a:cs typeface="Manrope SemiBold"/>
              <a:sym typeface="Manrope SemiBold"/>
            </a:endParaRPr>
          </a:p>
          <a:p>
            <a:pPr algn="l">
              <a:spcBef>
                <a:spcPts val="100"/>
              </a:spcBef>
              <a:spcAft>
                <a:spcPts val="100"/>
              </a:spcAft>
            </a:pPr>
            <a:r>
              <a:rPr sz="1000" b="0">
                <a:solidFill>
                  <a:srgbClr val="2D3748"/>
                </a:solidFill>
                <a:latin typeface="Manrope SemiBold"/>
              </a:rPr>
              <a:t>GitHub: https://github.com/princejain756/Data-AiChallengeHack2skill</a:t>
            </a:r>
          </a:p>
          <a:p>
            <a:pPr algn="l">
              <a:spcBef>
                <a:spcPts val="100"/>
              </a:spcBef>
              <a:spcAft>
                <a:spcPts val="100"/>
              </a:spcAft>
            </a:pPr>
            <a:r>
              <a:rPr sz="1000" b="0">
                <a:solidFill>
                  <a:srgbClr val="2D3748"/>
                </a:solidFill>
                <a:latin typeface="Manrope SemiBold"/>
              </a:rPr>
              <a:t>Sandbox: sandbox_notebook.ipynb (Google Colab ready)</a:t>
            </a:r>
          </a:p>
          <a:p>
            <a:pPr algn="l">
              <a:spcBef>
                <a:spcPts val="100"/>
              </a:spcBef>
              <a:spcAft>
                <a:spcPts val="100"/>
              </a:spcAft>
            </a:pPr>
            <a:r>
              <a:rPr sz="1000" b="0">
                <a:solidFill>
                  <a:srgbClr val="2D3748"/>
                </a:solidFill>
                <a:latin typeface="Manrope SemiBold"/>
              </a:rPr>
              <a:t>Ranked output: prince_jain.csv (100 candidates, validated)</a:t>
            </a:r>
          </a:p>
          <a:p>
            <a:pPr algn="l">
              <a:spcBef>
                <a:spcPts val="100"/>
              </a:spcBef>
              <a:spcAft>
                <a:spcPts val="100"/>
              </a:spcAft>
            </a:pPr>
            <a:r>
              <a:rPr sz="1000" b="0">
                <a:solidFill>
                  <a:srgbClr val="2D3748"/>
                </a:solidFill>
                <a:latin typeface="Manrope SemiBold"/>
              </a:rPr>
              <a:t>Metadata: submission_metadata.yaml</a:t>
            </a:r>
          </a:p>
          <a:p>
            <a:pPr algn="l">
              <a:spcBef>
                <a:spcPts val="100"/>
              </a:spcBef>
              <a:spcAft>
                <a:spcPts val="100"/>
              </a:spcAft>
            </a:pPr>
            <a:r>
              <a:rPr sz="1000" b="0">
                <a:solidFill>
                  <a:srgbClr val="2D3748"/>
                </a:solidFill>
                <a:latin typeface="Manrope SemiBold"/>
              </a:rPr>
              <a:t>This deck: approach_deck.pdf (10 slides on official template)</a:t>
            </a:r>
          </a:p>
          <a:p>
            <a:pPr algn="l">
              <a:spcBef>
                <a:spcPts val="100"/>
              </a:spcBef>
              <a:spcAft>
                <a:spcPts val="100"/>
              </a:spcAft>
            </a:pPr>
            <a:r>
              <a:rPr sz="1000" b="0">
                <a:solidFill>
                  <a:srgbClr val="2D3748"/>
                </a:solidFill>
                <a:latin typeface="Manrope SemiBold"/>
              </a:rPr>
              <a:t>Run: python rank.py --candidates ./candidates.jsonl --out output.csv</a:t>
            </a:r>
          </a:p>
          <a:p>
            <a:pPr algn="l">
              <a:spcBef>
                <a:spcPts val="200"/>
              </a:spcBef>
              <a:spcAft>
                <a:spcPts val="200"/>
              </a:spcAft>
            </a:pPr>
            <a:r>
              <a:rPr sz="400" b="0">
                <a:solidFill>
                  <a:srgbClr val="2D3748"/>
                </a:solidFill>
                <a:latin typeface="Manrope SemiBold"/>
              </a:rPr>
              <a:t/>
            </a:r>
          </a:p>
          <a:p>
            <a:pPr algn="l">
              <a:spcBef>
                <a:spcPts val="600"/>
              </a:spcBef>
              <a:spcAft>
                <a:spcPts val="200"/>
              </a:spcAft>
            </a:pPr>
            <a:r>
              <a:rPr sz="1000" b="1">
                <a:solidFill>
                  <a:srgbClr val="5B21B6"/>
                </a:solidFill>
                <a:latin typeface="Manrope SemiBold"/>
              </a:rPr>
              <a:t>46 scoring signals · 3 honeypot checks · 6 reasoning templates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3" title="thank you slide.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